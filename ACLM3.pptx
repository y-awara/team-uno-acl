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15:47:24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241 162 24575,'44'-2'0,"85"-15"0,11-2 0,-93 14 0,61-14 0,-27 3 0,-2-1 0,-54 10 0,1 1 0,40-3 0,-23 6 0,84-18 0,-63 11 0,-1 4 0,1 2 0,108 7 0,-41 0 0,1627-3 0,-1724 2 0,0 1 0,58 15 0,-17-3 0,-5 3 0,-48-12 0,0-1 0,23 3 0,-26-5 0,0 0 0,1 1 0,-2 1 0,1 1 0,-1 1 0,0 0 0,0 1 0,-1 1 0,0 1 0,0 1 0,-1 0 0,-1 1 0,0 0 0,0 1 0,19 24 0,-31-34 0,17 19 0,1 0 0,0-2 0,46 33 0,-55-45 0,1 1 0,-1 0 0,-1 0 0,19 20 0,-26-23 0,0 0 0,0 0 0,0 0 0,0 0 0,-1 1 0,0 0 0,0-1 0,-1 1 0,0 0 0,0 1 0,1 12 0,1 17 0,-2 0 0,-3 50 0,0-72 0,0-1 0,-1 0 0,-1 0 0,0 0 0,-1-1 0,-1 1 0,0-1 0,-1 0 0,-9 17 0,6-18 0,-1-1 0,-1 0 0,0-1 0,0 0 0,-1-1 0,0 0 0,-1-1 0,-19 10 0,-29 21 0,30-20 0,0-1 0,-1-1 0,-1-2 0,-42 14 0,14-6 0,0 2 0,-96 34 0,-5-15 0,6-6 0,132-32 0,1 2 0,-36 15 0,41-15 0,-1 0 0,1-1 0,-1-1 0,-36 6 0,-66 7 0,69-10 0,-85 6 0,85-15 0,13 0 0,0 1 0,-66 12 0,33-2 0,-1-4 0,0-2 0,-101-7 0,-98 5 0,151 16 0,80-11 0,-71 5 0,-278-14 0,363-1 0,0-2 0,1 0 0,-1-1 0,-50-18 0,41 11 0,-55-10 0,72 19 0,1-1 0,1-1 0,-1-1 0,1 0 0,0-1 0,-28-17 0,2 3 0,0 2 0,-49-14 0,-36-16 0,89 29 0,-57-39 0,-9-5 0,92 56 0,0-1 0,1 0 0,0-1 0,0 0 0,1-1 0,0-1 0,1 0 0,0 0 0,1 0 0,0-1 0,1-1 0,1 0 0,-11-26 0,7 12 0,2 0 0,1 0 0,2-1 0,0 0 0,2 0 0,-1-44 0,4 14 0,-1 24 0,1 0 0,2 0 0,2 0 0,6-34 0,-5 58 0,0 0 0,1 1 0,0-1 0,0 1 0,1 0 0,0 1 0,15-17 0,-12 15 0,0-1 0,-1 0 0,13-26 0,-19 32-68,0-1 0,1 1-1,0 0 1,0 0 0,0 0 0,0 1-1,1-1 1,0 1 0,0-1 0,1 1-1,-1 1 1,1-1 0,0 1 0,1-1-1,-1 1 1,1 1 0,-1-1 0,1 1-1,8-3 1,12-1-6758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15:47:30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1 436 24575,'0'-2'0,"0"1"0,1 0 0,-1 0 0,0 0 0,1 0 0,-1-1 0,1 1 0,0 0 0,-1 0 0,1 0 0,0 0 0,-1 0 0,1 0 0,0 0 0,0 1 0,0-1 0,0 0 0,0 0 0,0 1 0,0-1 0,0 0 0,2 0 0,31-13 0,-16 8 0,4-6 0,0-1 0,0-1 0,21-19 0,14-9 0,99-52 0,-136 84 0,-6 1 0,1 1 0,0 1 0,1 1 0,0 0 0,0 1 0,31-6 0,61-8 0,-70 11 0,1 2 0,46-3 0,-49 8 0,-1-2 0,66-15 0,-62 11 0,-1 3 0,58-1 0,-56 4 0,1-2 0,42-7 0,12-4 0,1 4 0,1 5 0,115 8 0,-48 0 0,423-3 0,-545 3 0,0 1 0,67 16 0,-69-11 0,10 3 0,0 3 0,-1 2 0,64 33 0,-66-32 0,-34-15 0,-1 2 0,0 0 0,22 12 0,-30-15 0,-1 1 0,1 0 0,-1 0 0,1 0 0,-1 0 0,0 1 0,0-1 0,-1 1 0,1 0 0,-1 0 0,0 0 0,0 0 0,0 0 0,0 0 0,1 6 0,28 154 0,-27-145 0,-1-1 0,-1 1 0,0 0 0,-2 0 0,0 0 0,-5 30 0,4-41 0,-1 1 0,-1-1 0,0 0 0,0 1 0,0-2 0,-1 1 0,0 0 0,-1-1 0,0 1 0,0-1 0,0-1 0,-1 1 0,0-1 0,0 0 0,-1 0 0,-11 8 0,-130 104 0,105-80 0,-13 21 0,45-44 0,-2-1 0,-20 18 0,-105 87 0,115-104 0,-1 0 0,-1-2 0,0-1 0,-33 11 0,22-9 0,-49 27 0,58-25 0,-1-2 0,-1 0 0,-1-2 0,1-1 0,-2-2 0,1-1 0,-1-1 0,-60 5 0,55-9 0,-60 13 0,62-8 0,-72 5 0,61-12 0,1 2 0,-79 15 0,65-4 0,8-1 0,0-3 0,0-1 0,-76 2 0,-580-13 0,692 1 0,-1 0 0,1 0 0,0-1 0,0-1 0,0-1 0,0 0 0,0 0 0,1-2 0,0 0 0,0 0 0,0-1 0,1 0 0,0-2 0,0 1 0,1-1 0,0-1 0,1 0 0,0 0 0,1-1 0,0 0 0,-13-22 0,-46-60 0,35 50 0,-36-64 0,44 63 0,-46-97 0,63 122 0,2 1 0,0-1 0,1 0 0,1 0 0,1 0 0,-2-22 0,6-113-1365,-1 120-5461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853F-7703-EC56-DA87-E39B03E10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57009-FA56-0F4C-93E6-E559A1CDF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9E557-7CB4-AFE1-1DBE-6C41012D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2E69D-7E3D-7D79-65CA-0D2FB6BF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29F74-2864-8895-E5D9-05C32289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91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1A43-ED7B-6206-E2F3-69FA23DA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0E407-F2B1-2949-4DC9-A5884A8DB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AC969-3D08-4199-783E-1ABE2965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C35C5-9782-264E-E7A2-D089B9CF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05EF5-A479-CAD2-66E9-3EB9B67F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1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A063E-6FB7-29D1-F5D1-D9C86373B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BC4B7-8D0F-307F-0B2B-554436D4D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7453E-3972-D46A-AAF2-A395C9461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A6413-F57A-1C26-390F-2BCBB8D0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DA29E-565C-C3D7-DA4C-81FC2B49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89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2F4C-7914-282B-7558-ECB74591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C5B4-B667-11B8-51A5-C990A12DE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06014-DC59-8085-9C7C-2FD8614A2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26054-76FA-07A5-0D9F-457C480B7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43B1E-C5AF-0704-256B-4D01F2DC7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1EAB2-490B-58FC-DD7B-FB30F736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478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59A6E-2149-F67F-5AC0-92FE5AAF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8426A-90E6-F87B-1D30-4A1FF25B0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4E2C8-4C2A-44C5-E207-4824B7735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114FF-9352-F512-B676-980D29901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F11F3D-F40C-04F5-6112-5BA8F003E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1FBE1-4B1E-EC8C-92B8-BFBACC70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C4EB1-5006-C121-33D4-B7D1311B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BF6D7-39FB-441E-74A3-28F4A313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84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ECBA-22FE-088B-E7E1-68758D24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0D04F-983F-53DD-A41F-44BACF544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1BC84-0500-E7C9-3AFE-81360D56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2608E-807B-A902-C724-4229DE390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D9F6DA-B5E3-3498-F8BE-090A8DC2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66122F-94F0-EE78-11E1-CFFC36BC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2D497-6CA6-6506-6923-90512B6DF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38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ED24-E412-D44D-491F-90C40C63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5DD74-67FD-BB0F-D338-E76C126C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F18FA-A442-FAB0-E91F-2D7506895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DE249-732C-FF32-BABA-B6CAD713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580B3-A67A-6FD7-8786-D716EF876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2CD5B-F753-353D-6C2E-085457C5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71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F1A2-E333-B785-F66E-4033DC008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EC2463-A046-FDB3-9FB1-3F846FA01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4DE47-A81E-49E6-4780-D772340EA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DBA64-5E82-34F9-D1A0-4A30BE135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18647-AEFE-6793-F2E6-E2977AB1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F3B3E-15E4-2368-A3A9-43A475BB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7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19AB-2D73-7381-6DCF-BB81699F9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08F34-2FF2-0B36-1043-BF0C4D46B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31A4F-C9BF-B70D-F77A-01B619D2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F28AB-BC65-2954-8993-1642BA55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B8FFB-E4D8-BBD7-FBC8-A303829BA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7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5FC89D-68C5-D58A-838D-B34898EB1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AFDC5-D59B-48A9-F0BE-32096FA23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336EB-DA44-CA14-1C1D-9F15F5DA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E5626-1CB5-D4F7-F4C8-81159454C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CEEAF-D93C-DD99-F677-81C1EB9D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5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DF9B94-BA80-E3D1-49B1-9E09ECE53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9E0C6-F808-CC2E-2327-5B36851E8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CFAE1-76BE-D2AA-E107-928B9AE25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95687-9C68-48FC-B58B-ADCFFFD15EAB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8AA54-956E-E18D-E842-17A6320DD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E36C2-4C44-03FE-FF72-D17BC03C9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A9288-FA36-4DE3-A85D-4828EFEB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9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F35C-22AE-39F1-782D-D0CEFC55D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/>
              <a:t>Graph-RAG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369F2-08F6-B3B4-378D-4B5A3C5F5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2769" y="4499793"/>
            <a:ext cx="4806462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Yousef Abdelmegeed</a:t>
            </a:r>
          </a:p>
          <a:p>
            <a:r>
              <a:rPr lang="en-US" dirty="0"/>
              <a:t>Youssef Medhat</a:t>
            </a:r>
          </a:p>
          <a:p>
            <a:r>
              <a:rPr lang="en-US" dirty="0"/>
              <a:t>Yousef Awara</a:t>
            </a:r>
          </a:p>
          <a:p>
            <a:r>
              <a:rPr lang="en-US" dirty="0"/>
              <a:t>Mohab Essam</a:t>
            </a:r>
          </a:p>
        </p:txBody>
      </p:sp>
    </p:spTree>
    <p:extLst>
      <p:ext uri="{BB962C8B-B14F-4D97-AF65-F5344CB8AC3E}">
        <p14:creationId xmlns:p14="http://schemas.microsoft.com/office/powerpoint/2010/main" val="34847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8F2E-95AE-75C4-A5AD-A7B4461C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C281B-7572-AE1B-F7A7-A8D61EE1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Goal of the project:</a:t>
            </a:r>
            <a:endParaRPr lang="en-US" dirty="0"/>
          </a:p>
          <a:p>
            <a:pPr lvl="1"/>
            <a:r>
              <a:rPr lang="en-US" dirty="0"/>
              <a:t>Combine </a:t>
            </a:r>
            <a:r>
              <a:rPr lang="en-US" b="1" dirty="0"/>
              <a:t>symbolic reasoning (Knowledge Graph)</a:t>
            </a:r>
            <a:r>
              <a:rPr lang="en-US" dirty="0"/>
              <a:t> with </a:t>
            </a:r>
            <a:r>
              <a:rPr lang="en-US" b="1" dirty="0"/>
              <a:t>statistical reasoning (LLMs)</a:t>
            </a:r>
            <a:endParaRPr lang="en-US" dirty="0"/>
          </a:p>
          <a:p>
            <a:pPr lvl="1"/>
            <a:r>
              <a:rPr lang="en-US" dirty="0"/>
              <a:t>Reduce hallucinations</a:t>
            </a:r>
          </a:p>
          <a:p>
            <a:pPr lvl="1"/>
            <a:r>
              <a:rPr lang="en-US" dirty="0"/>
              <a:t>Increase interpretability and trust</a:t>
            </a:r>
          </a:p>
          <a:p>
            <a:pPr marL="0" indent="0">
              <a:buNone/>
            </a:pPr>
            <a:r>
              <a:rPr lang="en-US" b="1" dirty="0"/>
              <a:t>Key challenge:</a:t>
            </a:r>
            <a:endParaRPr lang="en-US" dirty="0"/>
          </a:p>
          <a:p>
            <a:pPr lvl="1"/>
            <a:r>
              <a:rPr lang="en-US" dirty="0"/>
              <a:t>LLMs alone hallucinate</a:t>
            </a:r>
          </a:p>
          <a:p>
            <a:pPr lvl="1"/>
            <a:r>
              <a:rPr lang="en-US" dirty="0"/>
              <a:t>KG alone lacks semantic flexibility</a:t>
            </a:r>
          </a:p>
          <a:p>
            <a:pPr marL="0" indent="0">
              <a:buNone/>
            </a:pPr>
            <a:r>
              <a:rPr lang="en-US" b="1" dirty="0"/>
              <a:t>Solution:</a:t>
            </a:r>
            <a:endParaRPr lang="en-US" dirty="0"/>
          </a:p>
          <a:p>
            <a:pPr lvl="1"/>
            <a:r>
              <a:rPr lang="en-US" dirty="0"/>
              <a:t>Graph-RAG: KG-grounded retrieval + LLM reasoning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013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D9F6-F363-41D9-618F-F0BCF554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F675D-ABE3-2CAB-3EAD-F439A4577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High-level pipeline: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1. User Query</a:t>
            </a:r>
          </a:p>
          <a:p>
            <a:pPr marL="457200" lvl="1" indent="0">
              <a:buNone/>
            </a:pPr>
            <a:r>
              <a:rPr lang="en-US" dirty="0"/>
              <a:t>2. Intent Classification</a:t>
            </a:r>
          </a:p>
          <a:p>
            <a:pPr marL="457200" lvl="1" indent="0">
              <a:buNone/>
            </a:pPr>
            <a:r>
              <a:rPr lang="en-US" dirty="0"/>
              <a:t>3. Entity Extraction</a:t>
            </a:r>
          </a:p>
          <a:p>
            <a:pPr marL="457200" lvl="1" indent="0">
              <a:buNone/>
            </a:pPr>
            <a:r>
              <a:rPr lang="en-US" dirty="0"/>
              <a:t>4. KG Retrieval</a:t>
            </a:r>
          </a:p>
          <a:p>
            <a:pPr lvl="2"/>
            <a:r>
              <a:rPr lang="en-US" dirty="0"/>
              <a:t>Baseline (Cypher)</a:t>
            </a:r>
          </a:p>
          <a:p>
            <a:pPr lvl="2"/>
            <a:r>
              <a:rPr lang="en-US" dirty="0"/>
              <a:t>Embeddings</a:t>
            </a:r>
          </a:p>
          <a:p>
            <a:pPr lvl="2"/>
            <a:r>
              <a:rPr lang="en-US" dirty="0"/>
              <a:t>Hybrid</a:t>
            </a:r>
          </a:p>
          <a:p>
            <a:pPr marL="457200" lvl="1" indent="0">
              <a:buNone/>
            </a:pPr>
            <a:r>
              <a:rPr lang="en-US" dirty="0"/>
              <a:t>5. LLM Grounded Answer</a:t>
            </a:r>
          </a:p>
          <a:p>
            <a:pPr marL="457200" lvl="1" indent="0">
              <a:buNone/>
            </a:pPr>
            <a:r>
              <a:rPr lang="en-US" dirty="0"/>
              <a:t>6. </a:t>
            </a:r>
            <a:r>
              <a:rPr lang="en-US" dirty="0" err="1"/>
              <a:t>Streamlit</a:t>
            </a:r>
            <a:r>
              <a:rPr lang="en-US" dirty="0"/>
              <a:t> UI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317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2DF9-FE58-3496-B252-668E6F1F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Graph (From Milestone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3E008-0AAB-9FA2-0CE1-1C6ABE794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KG Contents:</a:t>
            </a:r>
            <a:endParaRPr lang="en-US" dirty="0"/>
          </a:p>
          <a:p>
            <a:pPr lvl="1"/>
            <a:r>
              <a:rPr lang="en-US" dirty="0"/>
              <a:t>Products</a:t>
            </a:r>
          </a:p>
          <a:p>
            <a:pPr lvl="1"/>
            <a:r>
              <a:rPr lang="en-US" dirty="0"/>
              <a:t>Categories</a:t>
            </a:r>
          </a:p>
          <a:p>
            <a:pPr lvl="1"/>
            <a:r>
              <a:rPr lang="en-US" dirty="0"/>
              <a:t>Reviews</a:t>
            </a:r>
          </a:p>
          <a:p>
            <a:pPr lvl="1"/>
            <a:r>
              <a:rPr lang="en-US" dirty="0"/>
              <a:t>Sellers</a:t>
            </a:r>
          </a:p>
          <a:p>
            <a:pPr lvl="1"/>
            <a:r>
              <a:rPr lang="en-US" dirty="0"/>
              <a:t>Customers</a:t>
            </a:r>
          </a:p>
          <a:p>
            <a:pPr lvl="1"/>
            <a:r>
              <a:rPr lang="en-US" dirty="0"/>
              <a:t>States</a:t>
            </a:r>
          </a:p>
          <a:p>
            <a:pPr lvl="1"/>
            <a:r>
              <a:rPr lang="en-US" dirty="0"/>
              <a:t>Delivery data</a:t>
            </a:r>
          </a:p>
          <a:p>
            <a:pPr marL="0" indent="0">
              <a:buNone/>
            </a:pPr>
            <a:r>
              <a:rPr lang="en-US" b="1" dirty="0"/>
              <a:t>Why Neo4j?</a:t>
            </a:r>
            <a:endParaRPr lang="en-US" dirty="0"/>
          </a:p>
          <a:p>
            <a:pPr lvl="1"/>
            <a:r>
              <a:rPr lang="en-US" dirty="0"/>
              <a:t>Explicit relationships</a:t>
            </a:r>
          </a:p>
          <a:p>
            <a:pPr lvl="1"/>
            <a:r>
              <a:rPr lang="en-US" dirty="0"/>
              <a:t>Explainable retrieval</a:t>
            </a:r>
          </a:p>
          <a:p>
            <a:pPr lvl="1"/>
            <a:r>
              <a:rPr lang="en-US" dirty="0"/>
              <a:t>Deterministic querying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87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E521-40C5-8F3E-49DC-37FAD5B7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3D20-D30E-90FC-9FBC-DBCE644C3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Intent Classification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PRODUCT_BY_CATEGORY</a:t>
            </a:r>
          </a:p>
          <a:p>
            <a:pPr lvl="1"/>
            <a:r>
              <a:rPr lang="en-US" dirty="0"/>
              <a:t>REVIEWS_FOR_PRODUCT</a:t>
            </a:r>
          </a:p>
          <a:p>
            <a:pPr lvl="1"/>
            <a:r>
              <a:rPr lang="en-US" dirty="0"/>
              <a:t>SEMANTIC_SEARCH</a:t>
            </a:r>
          </a:p>
          <a:p>
            <a:pPr lvl="1"/>
            <a:r>
              <a:rPr lang="en-US" dirty="0"/>
              <a:t>DELIVERY_INSIGHTS</a:t>
            </a:r>
          </a:p>
          <a:p>
            <a:pPr marL="0" indent="0">
              <a:buNone/>
            </a:pPr>
            <a:r>
              <a:rPr lang="en-US" b="1" dirty="0"/>
              <a:t>Entity Extraction</a:t>
            </a:r>
          </a:p>
          <a:p>
            <a:pPr marL="0" indent="0">
              <a:buNone/>
            </a:pPr>
            <a:r>
              <a:rPr lang="en-US" dirty="0"/>
              <a:t>Extracted entities:</a:t>
            </a:r>
          </a:p>
          <a:p>
            <a:pPr lvl="1"/>
            <a:r>
              <a:rPr lang="en-US" dirty="0"/>
              <a:t>Category</a:t>
            </a:r>
          </a:p>
          <a:p>
            <a:pPr lvl="1"/>
            <a:r>
              <a:rPr lang="en-US" dirty="0"/>
              <a:t>Rating thresholds</a:t>
            </a:r>
          </a:p>
          <a:p>
            <a:pPr lvl="1"/>
            <a:r>
              <a:rPr lang="en-US" dirty="0"/>
              <a:t>Delivery delays</a:t>
            </a:r>
          </a:p>
          <a:p>
            <a:pPr lvl="1"/>
            <a:r>
              <a:rPr lang="en-US" dirty="0"/>
              <a:t>Product IDs</a:t>
            </a:r>
          </a:p>
          <a:p>
            <a:pPr marL="0" indent="0">
              <a:buNone/>
            </a:pPr>
            <a:r>
              <a:rPr lang="en-US" b="1" dirty="0"/>
              <a:t>Purpose:</a:t>
            </a:r>
            <a:endParaRPr lang="en-US" dirty="0"/>
          </a:p>
          <a:p>
            <a:r>
              <a:rPr lang="en-US" dirty="0"/>
              <a:t>Route query to correct retrieval strategy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05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8D9AF-01C1-85F0-33CA-376C26A70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Retrieval (Cypher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C2FA4-1BFD-9928-6E20-DE19CD862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77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it does:</a:t>
            </a:r>
            <a:endParaRPr lang="en-US" dirty="0"/>
          </a:p>
          <a:p>
            <a:pPr lvl="1"/>
            <a:r>
              <a:rPr lang="en-US" dirty="0"/>
              <a:t>Deterministic structured retrieval</a:t>
            </a:r>
          </a:p>
          <a:p>
            <a:pPr lvl="1"/>
            <a:r>
              <a:rPr lang="en-US" dirty="0"/>
              <a:t>Exact filtering using KG properties</a:t>
            </a:r>
          </a:p>
          <a:p>
            <a:pPr marL="0" indent="0">
              <a:buNone/>
            </a:pPr>
            <a:r>
              <a:rPr lang="en-US" b="1" dirty="0"/>
              <a:t>What it shows:</a:t>
            </a:r>
            <a:endParaRPr lang="en-US" dirty="0"/>
          </a:p>
          <a:p>
            <a:pPr lvl="1"/>
            <a:r>
              <a:rPr lang="en-US" dirty="0"/>
              <a:t>Executed Cypher query</a:t>
            </a:r>
          </a:p>
          <a:p>
            <a:pPr lvl="1"/>
            <a:r>
              <a:rPr lang="en-US" dirty="0"/>
              <a:t>Parameters</a:t>
            </a:r>
          </a:p>
          <a:p>
            <a:pPr lvl="1"/>
            <a:r>
              <a:rPr lang="en-US" dirty="0"/>
              <a:t>Raw KG results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+ Reliable</a:t>
            </a:r>
          </a:p>
          <a:p>
            <a:pPr marL="457200" lvl="1" indent="0">
              <a:buNone/>
            </a:pPr>
            <a:r>
              <a:rPr lang="en-US" dirty="0"/>
              <a:t>- No semantic flexibility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40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936188-30BE-B4F5-80BC-C545E1CF5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04" b="303"/>
          <a:stretch>
            <a:fillRect/>
          </a:stretch>
        </p:blipFill>
        <p:spPr>
          <a:xfrm>
            <a:off x="684575" y="478302"/>
            <a:ext cx="10821625" cy="56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DAC344-FEB2-6EB0-4BFB-28719998B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" b="-4004"/>
          <a:stretch>
            <a:fillRect/>
          </a:stretch>
        </p:blipFill>
        <p:spPr>
          <a:xfrm>
            <a:off x="685187" y="288388"/>
            <a:ext cx="10821625" cy="656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6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FDD2257-94EB-C093-E14E-559D861F4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60" b="-1"/>
          <a:stretch>
            <a:fillRect/>
          </a:stretch>
        </p:blipFill>
        <p:spPr>
          <a:xfrm>
            <a:off x="684575" y="685800"/>
            <a:ext cx="1082162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48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C4509E-9D6F-6676-8D2E-9D81845AF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" t="425" r="6" b="-3891"/>
          <a:stretch>
            <a:fillRect/>
          </a:stretch>
        </p:blipFill>
        <p:spPr>
          <a:xfrm>
            <a:off x="685187" y="0"/>
            <a:ext cx="10821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18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54AF-976D-4172-783C-05EE472B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Embedding-Based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BDEEF-9380-22A6-C912-6AD3B5422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embeddings?</a:t>
            </a:r>
            <a:endParaRPr lang="en-US" dirty="0"/>
          </a:p>
          <a:p>
            <a:pPr lvl="1"/>
            <a:r>
              <a:rPr lang="en-US" dirty="0"/>
              <a:t>Handle vague / semantic queries</a:t>
            </a:r>
          </a:p>
          <a:p>
            <a:pPr lvl="1"/>
            <a:r>
              <a:rPr lang="en-US" dirty="0"/>
              <a:t>“similar items”, “recommend”, “related”</a:t>
            </a:r>
          </a:p>
          <a:p>
            <a:pPr marL="0" indent="0">
              <a:buNone/>
            </a:pPr>
            <a:r>
              <a:rPr lang="en-US" b="1" dirty="0"/>
              <a:t>Approach used:</a:t>
            </a:r>
            <a:endParaRPr lang="en-US" dirty="0"/>
          </a:p>
          <a:p>
            <a:pPr lvl="1"/>
            <a:r>
              <a:rPr lang="en-US" dirty="0"/>
              <a:t>Feature vector embeddings</a:t>
            </a:r>
          </a:p>
          <a:p>
            <a:pPr lvl="1"/>
            <a:r>
              <a:rPr lang="en-US" dirty="0"/>
              <a:t>Stored in Neo4j vector index</a:t>
            </a:r>
          </a:p>
          <a:p>
            <a:pPr lvl="1"/>
            <a:r>
              <a:rPr lang="en-US" dirty="0"/>
              <a:t>Semantic similarity search</a:t>
            </a:r>
          </a:p>
          <a:p>
            <a:pPr marL="0" indent="0">
              <a:buNone/>
            </a:pPr>
            <a:r>
              <a:rPr lang="en-US" b="1" dirty="0"/>
              <a:t>Semantic Query Example:</a:t>
            </a:r>
            <a:endParaRPr lang="en-US" dirty="0"/>
          </a:p>
          <a:p>
            <a:pPr lvl="1"/>
            <a:r>
              <a:rPr lang="en-US" dirty="0"/>
              <a:t>“Similar items to stroller”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964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64F7-5821-A4F4-0260-EAC16398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Models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5B99F-D81C-7F63-7F5F-DD626F76D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Models compared:</a:t>
            </a:r>
            <a:endParaRPr lang="en-US" dirty="0"/>
          </a:p>
          <a:p>
            <a:pPr lvl="1"/>
            <a:r>
              <a:rPr lang="en-US" dirty="0"/>
              <a:t>all-MiniLM-L6-v2</a:t>
            </a:r>
          </a:p>
          <a:p>
            <a:pPr lvl="1"/>
            <a:r>
              <a:rPr lang="en-US" dirty="0"/>
              <a:t>all-mpnet-base-v2</a:t>
            </a:r>
          </a:p>
          <a:p>
            <a:pPr marL="0" indent="0">
              <a:buNone/>
            </a:pPr>
            <a:r>
              <a:rPr lang="en-US" b="1" dirty="0"/>
              <a:t>Why two?</a:t>
            </a:r>
            <a:endParaRPr lang="en-US" dirty="0"/>
          </a:p>
          <a:p>
            <a:pPr lvl="1"/>
            <a:r>
              <a:rPr lang="en-US" dirty="0"/>
              <a:t>Required by rubric + performance comparison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74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59C60E-576C-7962-DCD7-42AC75F3E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0" b="14075"/>
          <a:stretch>
            <a:fillRect/>
          </a:stretch>
        </p:blipFill>
        <p:spPr>
          <a:xfrm>
            <a:off x="684575" y="464234"/>
            <a:ext cx="10821625" cy="61053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4F40213-0E13-6C4A-2D90-F64C5CE64717}"/>
                  </a:ext>
                </a:extLst>
              </p14:cNvPr>
              <p14:cNvContentPartPr/>
              <p14:nvPr/>
            </p14:nvContentPartPr>
            <p14:xfrm>
              <a:off x="799560" y="1981357"/>
              <a:ext cx="1566720" cy="523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4F40213-0E13-6C4A-2D90-F64C5CE647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0560" y="1972717"/>
                <a:ext cx="1584360" cy="54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3192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ED3307-93CB-13C4-3BD8-F5E7E586A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10" b="16415"/>
          <a:stretch>
            <a:fillRect/>
          </a:stretch>
        </p:blipFill>
        <p:spPr>
          <a:xfrm>
            <a:off x="684575" y="590843"/>
            <a:ext cx="10821625" cy="572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01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61C721-C7C6-501A-23AE-282DDBA49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8"/>
          <a:stretch>
            <a:fillRect/>
          </a:stretch>
        </p:blipFill>
        <p:spPr>
          <a:xfrm>
            <a:off x="684575" y="685800"/>
            <a:ext cx="10821625" cy="5486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9732A12-891B-328F-91FF-50173DE74AAC}"/>
                  </a:ext>
                </a:extLst>
              </p14:cNvPr>
              <p14:cNvContentPartPr/>
              <p14:nvPr/>
            </p14:nvContentPartPr>
            <p14:xfrm>
              <a:off x="787680" y="1826917"/>
              <a:ext cx="1181520" cy="523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9732A12-891B-328F-91FF-50173DE74A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9040" y="1817917"/>
                <a:ext cx="1199160" cy="54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4873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57BA02-2771-DBA2-E952-923D149DC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3" t="1" r="10653" b="-846"/>
          <a:stretch>
            <a:fillRect/>
          </a:stretch>
        </p:blipFill>
        <p:spPr>
          <a:xfrm>
            <a:off x="196948" y="685799"/>
            <a:ext cx="11830929" cy="502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60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DA00-1ADD-2CD3-4968-575BC15A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Model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176634-A753-EB02-5CC9-DAA09C3FE8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7093510"/>
              </p:ext>
            </p:extLst>
          </p:nvPr>
        </p:nvGraphicFramePr>
        <p:xfrm>
          <a:off x="838200" y="1825625"/>
          <a:ext cx="10515597" cy="2971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8863940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17768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88948606"/>
                    </a:ext>
                  </a:extLst>
                </a:gridCol>
              </a:tblGrid>
              <a:tr h="990486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Latency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002107"/>
                  </a:ext>
                </a:extLst>
              </a:tr>
              <a:tr h="990486">
                <a:tc>
                  <a:txBody>
                    <a:bodyPr/>
                    <a:lstStyle/>
                    <a:p>
                      <a:r>
                        <a:rPr lang="en-US" dirty="0"/>
                        <a:t>MiniLM-L6-v2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Faster, broader matches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607967"/>
                  </a:ext>
                </a:extLst>
              </a:tr>
              <a:tr h="990486">
                <a:tc>
                  <a:txBody>
                    <a:bodyPr/>
                    <a:lstStyle/>
                    <a:p>
                      <a:r>
                        <a:rPr lang="en-US" dirty="0"/>
                        <a:t>MPNet-base-v2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More selective, precise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9473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3AEB04-113D-2CBA-F4FD-A33DAD08B1EE}"/>
              </a:ext>
            </a:extLst>
          </p:cNvPr>
          <p:cNvSpPr txBox="1"/>
          <p:nvPr/>
        </p:nvSpPr>
        <p:spPr>
          <a:xfrm>
            <a:off x="838200" y="5092505"/>
            <a:ext cx="5548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Qualitative Observations</a:t>
            </a:r>
          </a:p>
          <a:p>
            <a:r>
              <a:rPr lang="en-US" dirty="0" err="1"/>
              <a:t>MiniLM</a:t>
            </a:r>
            <a:r>
              <a:rPr lang="en-US" dirty="0"/>
              <a:t> → higher recall</a:t>
            </a:r>
          </a:p>
          <a:p>
            <a:r>
              <a:rPr lang="en-US" dirty="0" err="1"/>
              <a:t>MPNet</a:t>
            </a:r>
            <a:r>
              <a:rPr lang="en-US" dirty="0"/>
              <a:t> → better semantic discrimination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62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6823-DFFF-0CBC-8C7F-C67701AC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Retrieval (Baseline + Embeddings)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1C2CB-5F80-23AA-E72B-11634E141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Hybrid strategy: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1. Run Cypher query</a:t>
            </a:r>
          </a:p>
          <a:p>
            <a:pPr marL="457200" lvl="1" indent="0">
              <a:buNone/>
            </a:pPr>
            <a:r>
              <a:rPr lang="en-US" dirty="0"/>
              <a:t>2. Run embedding similarity search</a:t>
            </a:r>
          </a:p>
          <a:p>
            <a:pPr marL="457200" lvl="1" indent="0">
              <a:buNone/>
            </a:pPr>
            <a:r>
              <a:rPr lang="en-US" dirty="0"/>
              <a:t>3. Merge results</a:t>
            </a:r>
          </a:p>
          <a:p>
            <a:pPr marL="457200" lvl="1" indent="0">
              <a:buNone/>
            </a:pPr>
            <a:r>
              <a:rPr lang="en-US" dirty="0"/>
              <a:t>4. Deduplicate</a:t>
            </a:r>
          </a:p>
          <a:p>
            <a:pPr marL="457200" lvl="1" indent="0">
              <a:buNone/>
            </a:pPr>
            <a:r>
              <a:rPr lang="en-US" dirty="0"/>
              <a:t>5. Rank</a:t>
            </a:r>
          </a:p>
          <a:p>
            <a:pPr marL="0" indent="0">
              <a:buNone/>
            </a:pPr>
            <a:r>
              <a:rPr lang="en-US" b="1" dirty="0"/>
              <a:t>Why Hybrid?</a:t>
            </a:r>
            <a:endParaRPr lang="en-US" dirty="0"/>
          </a:p>
          <a:p>
            <a:pPr lvl="1"/>
            <a:r>
              <a:rPr lang="en-US" dirty="0"/>
              <a:t>Combines precision + semantic flexibility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891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68BFA-D57F-697B-09DE-D49ED5755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77" b="13216"/>
          <a:stretch>
            <a:fillRect/>
          </a:stretch>
        </p:blipFill>
        <p:spPr>
          <a:xfrm>
            <a:off x="684575" y="450166"/>
            <a:ext cx="10821625" cy="572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47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AD6081-6C79-EA37-AAF6-40EE7B325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" b="4819"/>
          <a:stretch>
            <a:fillRect/>
          </a:stretch>
        </p:blipFill>
        <p:spPr>
          <a:xfrm>
            <a:off x="685187" y="140676"/>
            <a:ext cx="10821625" cy="632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43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7CDDE-993D-FADC-AB55-AA39CD783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F6E11-8B05-CC62-65CA-7A4E4D0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LLM role:</a:t>
            </a:r>
            <a:endParaRPr lang="en-US" dirty="0"/>
          </a:p>
          <a:p>
            <a:pPr lvl="1"/>
            <a:r>
              <a:rPr lang="en-US" dirty="0"/>
              <a:t>Does NOT retrieve</a:t>
            </a:r>
          </a:p>
          <a:p>
            <a:pPr lvl="1"/>
            <a:r>
              <a:rPr lang="en-US" dirty="0"/>
              <a:t>ONLY summarizes KG context</a:t>
            </a:r>
          </a:p>
          <a:p>
            <a:pPr lvl="1"/>
            <a:r>
              <a:rPr lang="en-US" dirty="0"/>
              <a:t>Prevents hallucination</a:t>
            </a:r>
          </a:p>
          <a:p>
            <a:pPr marL="0" indent="0">
              <a:buNone/>
            </a:pPr>
            <a:r>
              <a:rPr lang="en-US" b="1" dirty="0"/>
              <a:t>Prompt Structure:</a:t>
            </a:r>
            <a:endParaRPr lang="en-US" dirty="0"/>
          </a:p>
          <a:p>
            <a:pPr lvl="1"/>
            <a:r>
              <a:rPr lang="en-US" dirty="0"/>
              <a:t>Context: KG results</a:t>
            </a:r>
          </a:p>
          <a:p>
            <a:pPr lvl="1"/>
            <a:r>
              <a:rPr lang="en-US" dirty="0"/>
              <a:t>Persona: E-commerce assistant</a:t>
            </a:r>
          </a:p>
          <a:p>
            <a:pPr lvl="1"/>
            <a:r>
              <a:rPr lang="en-US" dirty="0"/>
              <a:t>Task: Answer using only provided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851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6CB2D-2164-06D1-D19C-9BB2A3CF4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993"/>
            <a:ext cx="3687491" cy="1594189"/>
          </a:xfrm>
        </p:spPr>
        <p:txBody>
          <a:bodyPr anchor="t">
            <a:normAutofit/>
          </a:bodyPr>
          <a:lstStyle/>
          <a:p>
            <a:r>
              <a:rPr lang="en-US" sz="3200"/>
              <a:t>LLM Models Compared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D81DC-816D-12E5-A34A-A73FF1F80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546" y="751555"/>
            <a:ext cx="6012254" cy="17664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/>
              <a:t>Models tested:</a:t>
            </a:r>
            <a:endParaRPr lang="en-US" sz="2000"/>
          </a:p>
          <a:p>
            <a:pPr lvl="1"/>
            <a:r>
              <a:rPr lang="en-US" sz="2000"/>
              <a:t>Gemma 2B</a:t>
            </a:r>
          </a:p>
          <a:p>
            <a:pPr lvl="1"/>
            <a:r>
              <a:rPr lang="en-US" sz="2000"/>
              <a:t>LLaMA 3 8B</a:t>
            </a:r>
          </a:p>
          <a:p>
            <a:pPr lvl="1"/>
            <a:r>
              <a:rPr lang="en-US" sz="2000"/>
              <a:t>Mistral 7B (attempted)</a:t>
            </a: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43E2F7-87A9-3814-C07D-D2171C42B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"/>
          <a:stretch>
            <a:fillRect/>
          </a:stretch>
        </p:blipFill>
        <p:spPr>
          <a:xfrm>
            <a:off x="-2" y="2818262"/>
            <a:ext cx="12192002" cy="403973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2221BB3-7B5D-C899-7745-66D7AC323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FD2D571-38D7-DB0F-166C-14FEDA700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88AEF72-50CD-C201-F6BF-C595BBBE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5067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40FC-4985-2661-B209-C9418E4B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Quantitative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57EC8A-FC7B-3730-B122-582E6F5A9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4391750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1413747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9339154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15802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Latency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389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Gemma 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03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LLaMA</a:t>
                      </a:r>
                      <a:r>
                        <a:rPr lang="en-US" dirty="0"/>
                        <a:t> 3 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368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Mistral 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supported (free tier)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973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885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093ECC-8BEB-4546-A80D-0B4887662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2BD2F7-DA1C-A4C0-2EC0-171FB563C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74" b="-1"/>
          <a:stretch>
            <a:fillRect/>
          </a:stretch>
        </p:blipFill>
        <p:spPr>
          <a:xfrm>
            <a:off x="684575" y="685800"/>
            <a:ext cx="1082162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659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2731-CCB8-4808-00C7-A1EE2C4AE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Qualitative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0852B-43B8-C790-C8E4-649821C18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Gemma 2B</a:t>
            </a:r>
            <a:endParaRPr lang="en-US" dirty="0"/>
          </a:p>
          <a:p>
            <a:pPr lvl="1"/>
            <a:r>
              <a:rPr lang="en-US" dirty="0"/>
              <a:t>Clear</a:t>
            </a:r>
          </a:p>
          <a:p>
            <a:pPr lvl="1"/>
            <a:r>
              <a:rPr lang="en-US" dirty="0"/>
              <a:t>Explicit listing</a:t>
            </a:r>
          </a:p>
          <a:p>
            <a:pPr lvl="1"/>
            <a:r>
              <a:rPr lang="en-US" dirty="0"/>
              <a:t>Very grounded</a:t>
            </a:r>
          </a:p>
          <a:p>
            <a:pPr marL="0" indent="0">
              <a:buNone/>
            </a:pPr>
            <a:r>
              <a:rPr lang="en-US" b="1" dirty="0" err="1"/>
              <a:t>LLaMA</a:t>
            </a:r>
            <a:r>
              <a:rPr lang="en-US" b="1" dirty="0"/>
              <a:t> 3 8B</a:t>
            </a:r>
            <a:endParaRPr lang="en-US" dirty="0"/>
          </a:p>
          <a:p>
            <a:pPr lvl="1"/>
            <a:r>
              <a:rPr lang="en-US" dirty="0"/>
              <a:t>Concise</a:t>
            </a:r>
          </a:p>
          <a:p>
            <a:pPr lvl="1"/>
            <a:r>
              <a:rPr lang="en-US" dirty="0"/>
              <a:t>Abstracted summaries</a:t>
            </a:r>
          </a:p>
          <a:p>
            <a:pPr lvl="1"/>
            <a:r>
              <a:rPr lang="en-US" dirty="0"/>
              <a:t>Faster response</a:t>
            </a:r>
          </a:p>
          <a:p>
            <a:pPr marL="0" indent="0">
              <a:buNone/>
            </a:pPr>
            <a:r>
              <a:rPr lang="en-US" b="1" dirty="0"/>
              <a:t>Mistral 7B</a:t>
            </a:r>
            <a:endParaRPr lang="en-US" dirty="0"/>
          </a:p>
          <a:p>
            <a:pPr lvl="1"/>
            <a:r>
              <a:rPr lang="en-US" dirty="0"/>
              <a:t>Not evaluated due to provider limitations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004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A388-FF35-518D-8B4B-3770DFEA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CC791-6975-052C-0ADB-6E99AB341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Observed Issues</a:t>
            </a:r>
          </a:p>
          <a:p>
            <a:pPr lvl="1"/>
            <a:r>
              <a:rPr lang="en-US" dirty="0"/>
              <a:t>Mistral unavailable on free HF inference</a:t>
            </a:r>
          </a:p>
          <a:p>
            <a:pPr lvl="1"/>
            <a:r>
              <a:rPr lang="en-US" dirty="0"/>
              <a:t>Semantic embeddings sometimes return broad categories</a:t>
            </a:r>
          </a:p>
          <a:p>
            <a:pPr lvl="1"/>
            <a:r>
              <a:rPr lang="en-US" dirty="0"/>
              <a:t>Some categories are noisy due to sparse metadata</a:t>
            </a:r>
          </a:p>
          <a:p>
            <a:pPr marL="0" indent="0">
              <a:buNone/>
            </a:pPr>
            <a:r>
              <a:rPr lang="en-US" b="1" dirty="0"/>
              <a:t>Why it happens</a:t>
            </a:r>
          </a:p>
          <a:p>
            <a:pPr lvl="1"/>
            <a:r>
              <a:rPr lang="en-US" dirty="0"/>
              <a:t>Provider constraints</a:t>
            </a:r>
          </a:p>
          <a:p>
            <a:pPr lvl="1"/>
            <a:r>
              <a:rPr lang="en-US" dirty="0"/>
              <a:t>Limited product descriptions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974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DD73-A426-954A-46B3-88BE557F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 Added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16255-7FC0-DC02-239D-A429C55EC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retrieval</a:t>
            </a:r>
          </a:p>
          <a:p>
            <a:r>
              <a:rPr lang="en-US" dirty="0"/>
              <a:t>Deduplication logic</a:t>
            </a:r>
          </a:p>
          <a:p>
            <a:r>
              <a:rPr lang="en-US" dirty="0"/>
              <a:t>Category translation (Portuguese → English)</a:t>
            </a:r>
          </a:p>
          <a:p>
            <a:r>
              <a:rPr lang="en-US" dirty="0"/>
              <a:t>Intent override for semantic queries</a:t>
            </a:r>
          </a:p>
          <a:p>
            <a:r>
              <a:rPr lang="en-US" dirty="0"/>
              <a:t>UI transparency (raw KG results)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44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9F67-3D70-8BFE-BE6A-AE0D243C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A7542-333F-E7FF-0ECF-7AC907D7B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fine-tuned embeddings</a:t>
            </a:r>
          </a:p>
          <a:p>
            <a:r>
              <a:rPr lang="en-US" dirty="0"/>
              <a:t>Limited textual descriptions</a:t>
            </a:r>
          </a:p>
          <a:p>
            <a:r>
              <a:rPr lang="en-US" dirty="0"/>
              <a:t>Free LLM provider constraints</a:t>
            </a:r>
          </a:p>
          <a:p>
            <a:r>
              <a:rPr lang="en-US" dirty="0"/>
              <a:t>No explicit ranking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076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5AF4-9D2C-7C6E-BCB0-DB6EFCA3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17085-8A83-2CD6-2D18-69BA28188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this project demonstrates:</a:t>
            </a:r>
            <a:endParaRPr lang="en-US" dirty="0"/>
          </a:p>
          <a:p>
            <a:pPr lvl="1"/>
            <a:r>
              <a:rPr lang="en-US" dirty="0"/>
              <a:t>Graph-RAG reduces hallucination</a:t>
            </a:r>
          </a:p>
          <a:p>
            <a:pPr lvl="1"/>
            <a:r>
              <a:rPr lang="en-US" dirty="0"/>
              <a:t>KG improves trust and explainability</a:t>
            </a:r>
          </a:p>
          <a:p>
            <a:pPr lvl="1"/>
            <a:r>
              <a:rPr lang="en-US" dirty="0"/>
              <a:t>Hybrid retrieval is superior to single-method retrieval</a:t>
            </a:r>
          </a:p>
          <a:p>
            <a:pPr marL="0" indent="0">
              <a:buNone/>
            </a:pPr>
            <a:r>
              <a:rPr lang="en-US" b="1" dirty="0"/>
              <a:t>Future Work:</a:t>
            </a:r>
          </a:p>
          <a:p>
            <a:pPr lvl="1"/>
            <a:r>
              <a:rPr lang="en-US" dirty="0"/>
              <a:t>Fine-tuned embeddings</a:t>
            </a:r>
          </a:p>
          <a:p>
            <a:pPr lvl="1"/>
            <a:r>
              <a:rPr lang="en-US" dirty="0"/>
              <a:t>Reranking models</a:t>
            </a:r>
          </a:p>
          <a:p>
            <a:pPr lvl="1"/>
            <a:r>
              <a:rPr lang="en-US" dirty="0"/>
              <a:t>Paid LLM APIs</a:t>
            </a:r>
          </a:p>
          <a:p>
            <a:pPr lvl="1"/>
            <a:r>
              <a:rPr lang="en-US" dirty="0"/>
              <a:t>Sentiment-aware retrieval</a:t>
            </a:r>
          </a:p>
          <a:p>
            <a:pPr lvl="1"/>
            <a:r>
              <a:rPr lang="en-US" dirty="0"/>
              <a:t>Recommendation explanations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60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79932B-A139-C7C5-E2F4-30B5C98192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1854B1D-ADD6-FB54-A950-A8E400834C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350053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551</Words>
  <Application>Microsoft Office PowerPoint</Application>
  <PresentationFormat>Widescreen</PresentationFormat>
  <Paragraphs>173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Graph-RAG Assistant</vt:lpstr>
      <vt:lpstr>Motivation &amp; Problem Statement</vt:lpstr>
      <vt:lpstr>System Overview</vt:lpstr>
      <vt:lpstr>Knowledge Graph (From Milestone 2)</vt:lpstr>
      <vt:lpstr>Input Preprocessing</vt:lpstr>
      <vt:lpstr>Baseline Retrieval (Cypher Only)</vt:lpstr>
      <vt:lpstr>PowerPoint Presentation</vt:lpstr>
      <vt:lpstr>PowerPoint Presentation</vt:lpstr>
      <vt:lpstr>PowerPoint Presentation</vt:lpstr>
      <vt:lpstr>PowerPoint Presentation</vt:lpstr>
      <vt:lpstr>Embedding-Based Retrieval</vt:lpstr>
      <vt:lpstr>Embedding Models Tested</vt:lpstr>
      <vt:lpstr>PowerPoint Presentation</vt:lpstr>
      <vt:lpstr>PowerPoint Presentation</vt:lpstr>
      <vt:lpstr>PowerPoint Presentation</vt:lpstr>
      <vt:lpstr>PowerPoint Presentation</vt:lpstr>
      <vt:lpstr>Embedding Model Comparison</vt:lpstr>
      <vt:lpstr>Hybrid Retrieval (Baseline + Embeddings)</vt:lpstr>
      <vt:lpstr>PowerPoint Presentation</vt:lpstr>
      <vt:lpstr>PowerPoint Presentation</vt:lpstr>
      <vt:lpstr>LLM Layer</vt:lpstr>
      <vt:lpstr>LLM Models Compared</vt:lpstr>
      <vt:lpstr>LLM Quantitative Comparison</vt:lpstr>
      <vt:lpstr>PowerPoint Presentation</vt:lpstr>
      <vt:lpstr>LLM Qualitative Comparison</vt:lpstr>
      <vt:lpstr>Error Analysis</vt:lpstr>
      <vt:lpstr>Improvements Added</vt:lpstr>
      <vt:lpstr>Remaining Limitations</vt:lpstr>
      <vt:lpstr>Conclusion and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Yousef Abdelmegeed</dc:creator>
  <cp:lastModifiedBy>Yousef Abdelmegeed</cp:lastModifiedBy>
  <cp:revision>1</cp:revision>
  <dcterms:created xsi:type="dcterms:W3CDTF">2025-12-23T15:27:20Z</dcterms:created>
  <dcterms:modified xsi:type="dcterms:W3CDTF">2025-12-23T16:07:49Z</dcterms:modified>
</cp:coreProperties>
</file>